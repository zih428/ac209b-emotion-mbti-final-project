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sRyGXd1wQbrUI00/CgmQM4Nw0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5" y="15242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60120" y="196596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AC 209b | Milestone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68680" y="2487168"/>
            <a:ext cx="10424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Emotion-Informed MBTI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63040" y="3310128"/>
            <a:ext cx="932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Project 66 | Harry Hu, Tom Shan, Wendy Wang, Kemeng Zhang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50" y="12"/>
            <a:ext cx="12191700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Can emotion-aware language signals predict MBTI?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1417323"/>
            <a:ext cx="4343400" cy="217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178050" y="1417323"/>
            <a:ext cx="4343400" cy="217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60120" y="17190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Emotion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452360" y="17190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Reddit MBTI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143000" y="2242820"/>
            <a:ext cx="3429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20k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6 balanced emotion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HuggingFace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580378" y="2238756"/>
            <a:ext cx="3429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~13M posts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16 self-reported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Kaggle Reddit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440680" y="2834640"/>
            <a:ext cx="132588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413248" y="2432304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50" y="3886596"/>
            <a:ext cx="4885950" cy="2020041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00" y="3886224"/>
            <a:ext cx="4188411" cy="21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Four MS2 Concerns -&gt; Four Design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13232" y="1325880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941832" y="15819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536192" y="1554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16-type skew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627632" y="2112264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496312" y="2029967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 binary 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327648" y="1325880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556248" y="15819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1B998B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150608" y="1554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Authors repeated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7242048" y="2112264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99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110727" y="2029967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author-level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13232" y="3675887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941832" y="3931920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F26D3D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536192" y="3904487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Posts too short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627632" y="4462272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D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2496312" y="4379975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author aggregation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327648" y="3675887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556248" y="3931920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150608" y="3904487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Does emotion help?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242048" y="4462272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6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110727" y="4379975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matched B1 vs 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4008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Refined Research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005840" y="2148840"/>
            <a:ext cx="102412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 text + emotion features beat text-only baselines on author-level MBTI?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874519" y="3337560"/>
            <a:ext cx="8458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On all four binary dimensions: E/I, N/S, F/T, J/P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Short-Post Tail Is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ost_length_cdf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82328"/>
            <a:ext cx="7360920" cy="383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8275325" y="1417327"/>
            <a:ext cx="3063300" cy="39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8549640" y="171907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8549640" y="2029968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Drop posts under 5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549640" y="2907792"/>
            <a:ext cx="25146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1-4 words: 3.4% of sample</a:t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Duplication: 1.1% -&gt; 0.2%</a:t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Examples: lol, thanks, same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Feature Stability -&gt; 20-Post Floor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uthor_feature_stability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52064"/>
            <a:ext cx="11155680" cy="374005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91440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Bootstrap std tracks 1/sqrt(n)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52628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20 posts clears r &gt;= 0.25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13816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Only ~8% author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Concentration -&gt; 200-Post 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uthor_concentration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70310"/>
            <a:ext cx="11109960" cy="38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822960" y="5230368"/>
            <a:ext cx="246888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Uncapped Gini 0.75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11880" y="5230368"/>
            <a:ext cx="25146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Top 1% = 18.9% posts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446520" y="5230368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Cap 200: Gini 0.27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144000" y="5230368"/>
            <a:ext cx="20574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~1.7M posts retained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Source -&gt; Target Transfer Is Feasible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urce_target_transfer_and_length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47492"/>
            <a:ext cx="11155680" cy="374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960120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Coverage rises: 59% -&gt; 92%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72000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Reddit 95th pct ~3x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183879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Use soft 6-d 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EDA -&gt;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530352" y="658368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Every threshold is EDA-derived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777240" y="126187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Data 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240280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 floor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&gt;=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142232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floor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&gt;=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044184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cap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&lt;= 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946136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soft probs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777240" y="39136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Modeling 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74320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sequence encoder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variable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16636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aggregation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 -&gt; 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58952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matched pair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B1 vs 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0" y="-18602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Model Input, Output, and Architecture</a:t>
            </a:r>
            <a:endParaRPr/>
          </a:p>
        </p:txBody>
      </p:sp>
      <p:sp>
        <p:nvSpPr>
          <p:cNvPr id="235" name="Google Shape;235;p28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500000" y="9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E3D7F6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620000" y="10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620000" y="12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Emotion classifier</a:t>
            </a:r>
            <a:b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(pretrained, frozen in B2)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300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short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HF emotion 20k</a:t>
            </a:r>
            <a:endParaRPr/>
          </a:p>
        </p:txBody>
      </p:sp>
      <p:cxnSp>
        <p:nvCxnSpPr>
          <p:cNvPr id="243" name="Google Shape;243;p28"/>
          <p:cNvCxnSpPr/>
          <p:nvPr/>
        </p:nvCxnSpPr>
        <p:spPr>
          <a:xfrm>
            <a:off x="440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28"/>
          <p:cNvSpPr/>
          <p:nvPr/>
        </p:nvSpPr>
        <p:spPr>
          <a:xfrm>
            <a:off x="461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64</a:t>
            </a:r>
            <a:endParaRPr/>
          </a:p>
        </p:txBody>
      </p:sp>
      <p:cxnSp>
        <p:nvCxnSpPr>
          <p:cNvPr id="245" name="Google Shape;245;p28"/>
          <p:cNvCxnSpPr/>
          <p:nvPr/>
        </p:nvCxnSpPr>
        <p:spPr>
          <a:xfrm>
            <a:off x="601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28"/>
          <p:cNvSpPr/>
          <p:nvPr/>
        </p:nvSpPr>
        <p:spPr>
          <a:xfrm>
            <a:off x="622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47" name="Google Shape;247;p28"/>
          <p:cNvCxnSpPr/>
          <p:nvPr/>
        </p:nvCxnSpPr>
        <p:spPr>
          <a:xfrm>
            <a:off x="762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8" name="Google Shape;248;p28"/>
          <p:cNvSpPr/>
          <p:nvPr/>
        </p:nvSpPr>
        <p:spPr>
          <a:xfrm>
            <a:off x="783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49" name="Google Shape;249;p28"/>
          <p:cNvCxnSpPr/>
          <p:nvPr/>
        </p:nvCxnSpPr>
        <p:spPr>
          <a:xfrm>
            <a:off x="923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8"/>
          <p:cNvSpPr/>
          <p:nvPr/>
        </p:nvSpPr>
        <p:spPr>
          <a:xfrm>
            <a:off x="944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3D7F6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-&gt; Softmax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128 -&gt; 64 -&gt; 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6 emotion classes</a:t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500000" y="26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CFE0F4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620000" y="27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Baseline 1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620000" y="29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Text only</a:t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300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Reddit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post, 5 - 200 words</a:t>
            </a:r>
            <a:endParaRPr/>
          </a:p>
        </p:txBody>
      </p:sp>
      <p:cxnSp>
        <p:nvCxnSpPr>
          <p:cNvPr id="255" name="Google Shape;255;p28"/>
          <p:cNvCxnSpPr/>
          <p:nvPr/>
        </p:nvCxnSpPr>
        <p:spPr>
          <a:xfrm>
            <a:off x="440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6" name="Google Shape;256;p28"/>
          <p:cNvSpPr/>
          <p:nvPr/>
        </p:nvSpPr>
        <p:spPr>
          <a:xfrm>
            <a:off x="461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128</a:t>
            </a:r>
            <a:endParaRPr/>
          </a:p>
        </p:txBody>
      </p:sp>
      <p:cxnSp>
        <p:nvCxnSpPr>
          <p:cNvPr id="257" name="Google Shape;257;p28"/>
          <p:cNvCxnSpPr/>
          <p:nvPr/>
        </p:nvCxnSpPr>
        <p:spPr>
          <a:xfrm>
            <a:off x="601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28"/>
          <p:cNvSpPr/>
          <p:nvPr/>
        </p:nvSpPr>
        <p:spPr>
          <a:xfrm>
            <a:off x="622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59" name="Google Shape;259;p28"/>
          <p:cNvCxnSpPr/>
          <p:nvPr/>
        </p:nvCxnSpPr>
        <p:spPr>
          <a:xfrm>
            <a:off x="762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0" name="Google Shape;260;p28"/>
          <p:cNvSpPr/>
          <p:nvPr/>
        </p:nvSpPr>
        <p:spPr>
          <a:xfrm>
            <a:off x="783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61" name="Google Shape;261;p28"/>
          <p:cNvCxnSpPr/>
          <p:nvPr/>
        </p:nvCxnSpPr>
        <p:spPr>
          <a:xfrm>
            <a:off x="923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28"/>
          <p:cNvSpPr/>
          <p:nvPr/>
        </p:nvSpPr>
        <p:spPr>
          <a:xfrm>
            <a:off x="944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CFE0F4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128 -&gt; 64 -&gt;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4 MBTI logits</a:t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500000" y="43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CFE5BE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620000" y="44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Baseline 2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620000" y="46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Text + emotion</a:t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300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Reddit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post, 5 - 200 words</a:t>
            </a:r>
            <a:endParaRPr/>
          </a:p>
        </p:txBody>
      </p:sp>
      <p:cxnSp>
        <p:nvCxnSpPr>
          <p:cNvPr id="267" name="Google Shape;267;p28"/>
          <p:cNvCxnSpPr/>
          <p:nvPr/>
        </p:nvCxnSpPr>
        <p:spPr>
          <a:xfrm>
            <a:off x="440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28"/>
          <p:cNvSpPr/>
          <p:nvPr/>
        </p:nvSpPr>
        <p:spPr>
          <a:xfrm>
            <a:off x="461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128</a:t>
            </a:r>
            <a:endParaRPr/>
          </a:p>
        </p:txBody>
      </p:sp>
      <p:cxnSp>
        <p:nvCxnSpPr>
          <p:cNvPr id="269" name="Google Shape;269;p28"/>
          <p:cNvCxnSpPr/>
          <p:nvPr/>
        </p:nvCxnSpPr>
        <p:spPr>
          <a:xfrm>
            <a:off x="601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0" name="Google Shape;270;p28"/>
          <p:cNvSpPr/>
          <p:nvPr/>
        </p:nvSpPr>
        <p:spPr>
          <a:xfrm>
            <a:off x="622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71" name="Google Shape;271;p28"/>
          <p:cNvCxnSpPr/>
          <p:nvPr/>
        </p:nvCxnSpPr>
        <p:spPr>
          <a:xfrm>
            <a:off x="762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2" name="Google Shape;272;p28"/>
          <p:cNvSpPr/>
          <p:nvPr/>
        </p:nvSpPr>
        <p:spPr>
          <a:xfrm>
            <a:off x="783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73" name="Google Shape;273;p28"/>
          <p:cNvCxnSpPr/>
          <p:nvPr/>
        </p:nvCxnSpPr>
        <p:spPr>
          <a:xfrm>
            <a:off x="923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4" name="Google Shape;274;p28"/>
          <p:cNvSpPr/>
          <p:nvPr/>
        </p:nvSpPr>
        <p:spPr>
          <a:xfrm>
            <a:off x="944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CFE5BE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concat 128 + 6 -&gt; 134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134 -&gt; 64 -&gt; 4 logits</a:t>
            </a:r>
            <a:endParaRPr/>
          </a:p>
        </p:txBody>
      </p:sp>
      <p:cxnSp>
        <p:nvCxnSpPr>
          <p:cNvPr id="275" name="Google Shape;275;p28"/>
          <p:cNvCxnSpPr/>
          <p:nvPr/>
        </p:nvCxnSpPr>
        <p:spPr>
          <a:xfrm rot="10800000">
            <a:off x="2850000" y="4650000"/>
            <a:ext cx="15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6" name="Google Shape;276;p28"/>
          <p:cNvCxnSpPr/>
          <p:nvPr/>
        </p:nvCxnSpPr>
        <p:spPr>
          <a:xfrm rot="10800000">
            <a:off x="2850000" y="1250000"/>
            <a:ext cx="0" cy="340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7" name="Google Shape;277;p28"/>
          <p:cNvCxnSpPr/>
          <p:nvPr/>
        </p:nvCxnSpPr>
        <p:spPr>
          <a:xfrm>
            <a:off x="2850000" y="1250000"/>
            <a:ext cx="15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8" name="Google Shape;278;p28"/>
          <p:cNvSpPr txBox="1"/>
          <p:nvPr/>
        </p:nvSpPr>
        <p:spPr>
          <a:xfrm>
            <a:off x="2910000" y="182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same text -&gt; Stage 1</a:t>
            </a:r>
            <a:endParaRPr/>
          </a:p>
        </p:txBody>
      </p:sp>
      <p:cxnSp>
        <p:nvCxnSpPr>
          <p:cNvPr id="279" name="Google Shape;279;p28"/>
          <p:cNvCxnSpPr/>
          <p:nvPr/>
        </p:nvCxnSpPr>
        <p:spPr>
          <a:xfrm>
            <a:off x="10840000" y="1250000"/>
            <a:ext cx="36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0" name="Google Shape;280;p28"/>
          <p:cNvCxnSpPr/>
          <p:nvPr/>
        </p:nvCxnSpPr>
        <p:spPr>
          <a:xfrm>
            <a:off x="11200000" y="1250000"/>
            <a:ext cx="0" cy="290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1" name="Google Shape;281;p28"/>
          <p:cNvCxnSpPr/>
          <p:nvPr/>
        </p:nvCxnSpPr>
        <p:spPr>
          <a:xfrm rot="10800000">
            <a:off x="10140000" y="4150000"/>
            <a:ext cx="106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2" name="Google Shape;282;p28"/>
          <p:cNvCxnSpPr/>
          <p:nvPr/>
        </p:nvCxnSpPr>
        <p:spPr>
          <a:xfrm>
            <a:off x="10140000" y="4150000"/>
            <a:ext cx="0" cy="15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8"/>
          <p:cNvSpPr txBox="1"/>
          <p:nvPr/>
        </p:nvSpPr>
        <p:spPr>
          <a:xfrm>
            <a:off x="9500000" y="3520000"/>
            <a:ext cx="16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6-d emotion probs -&gt; B2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Training Curves + Stage-1 Emotion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_training_curve.png" id="294" name="Google Shape;2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48375"/>
            <a:ext cx="3703320" cy="180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2_training_curve.png" id="295" name="Google Shape;2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506943"/>
            <a:ext cx="3703320" cy="180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tion_stage1_curves.png" id="296" name="Google Shape;29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1525236"/>
            <a:ext cx="6629400" cy="193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5212080" y="3950208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val_acc = 0.897</a:t>
            </a:r>
            <a:b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test = 0.908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818120" y="3950208"/>
            <a:ext cx="260604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B1/B2 plateau:</a:t>
            </a:r>
            <a:b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val BCE ~0.520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4892040" y="5074920"/>
            <a:ext cx="6355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Stage 1 is not the bottleneck; the MBTI baselines converge to the same loss floor.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Author-Level Results: Majority-Class Collapse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02920" y="1078992"/>
            <a:ext cx="1129284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1017035" y="1243583"/>
            <a:ext cx="7909506" cy="22926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lanced_accuracy_bar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116" y="1632857"/>
            <a:ext cx="8102425" cy="377124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 txBox="1"/>
          <p:nvPr/>
        </p:nvSpPr>
        <p:spPr>
          <a:xfrm>
            <a:off x="9076210" y="2312620"/>
            <a:ext cx="2291674" cy="2059023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E/I, N/S, J/P collapse to prior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B2 - B1 gap ~0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F/T precision 86-88%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Recall only 2-4%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Interpretation: Where the Signal 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777240" y="2011680"/>
            <a:ext cx="242316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per-post</a:t>
            </a:r>
            <a:b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520440" y="2514600"/>
            <a:ext cx="1005840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D66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800600" y="1874519"/>
            <a:ext cx="260604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hard 50%</a:t>
            </a:r>
            <a:b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majority vote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726679" y="2514600"/>
            <a:ext cx="1005840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D66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9006840" y="2011680"/>
            <a:ext cx="242316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author-level</a:t>
            </a:r>
            <a:b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960120" y="4434840"/>
            <a:ext cx="3794760" cy="749808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Vanilla BCE -&gt; class-prior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532120" y="4434840"/>
            <a:ext cx="5257800" cy="749808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Hard vote discards high-precision minority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Final Pipeline: 4 Targeted Upgrades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200000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(1) class-weighted BCE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3202923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1B998B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(2) soft author aggregation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6205846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F26D3D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(3) DistilBERT emotion encoder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208769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9B51E0"/>
          </a:solidFill>
          <a:ln cap="flat" cmpd="sng" w="12700">
            <a:solidFill>
              <a:srgbClr val="9B51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(4) DistilBERT text encoder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>
            <a:off x="0" y="14295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Potential Challenges &amp; Open Questions for TF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685800" y="1234440"/>
            <a:ext cx="5272887" cy="4500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9525">
            <a:solidFill>
              <a:srgbClr val="E1E5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965800" y="1474440"/>
            <a:ext cx="471288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Potential challenges &amp; concerns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1005800" y="1954440"/>
            <a:ext cx="463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Compute budget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Domain shift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Label noise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6233007" y="1234440"/>
            <a:ext cx="5272887" cy="4500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9525">
            <a:solidFill>
              <a:srgbClr val="E1E5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6513007" y="1474440"/>
            <a:ext cx="471288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Open questions for TF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6553007" y="1954440"/>
            <a:ext cx="46329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For the heavily skewed N/S dimension (~93/7), what’s your recommendation?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20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Once soft aggregation produces continuous author-level scores, is AUC-ROC (per dimension, author-level) acceptable as the headline metric alongside balanced accuracy?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68580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1444752" y="2794699"/>
            <a:ext cx="749808" cy="749808"/>
          </a:xfrm>
          <a:prstGeom prst="ellipse">
            <a:avLst/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144475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91440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weighted BCE +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soft aggregation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356616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4325112" y="2794699"/>
            <a:ext cx="749808" cy="749808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432511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379476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DistilBERT S1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+ prob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644652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7205472" y="2794699"/>
            <a:ext cx="749808" cy="749808"/>
          </a:xfrm>
          <a:prstGeom prst="ellipse">
            <a:avLst/>
          </a:prstGeom>
          <a:solidFill>
            <a:srgbClr val="F26D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720547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667512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DistilBERT S2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fine-tune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932688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10085832" y="2794699"/>
            <a:ext cx="749808" cy="749808"/>
          </a:xfrm>
          <a:prstGeom prst="ellipse">
            <a:avLst/>
          </a:prstGeom>
          <a:solidFill>
            <a:srgbClr val="C6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1008583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955548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evaluation +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ablations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