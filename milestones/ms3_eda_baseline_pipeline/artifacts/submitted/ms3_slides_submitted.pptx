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4" name="Google Shape;154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9" name="Google Shape;169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2" name="Google Shape;182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7" name="Google Shape;197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6" name="Google Shape;286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2" name="Google Shape;302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6" name="Google Shape;316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3" name="Google Shape;333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4" name="Google Shape;344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305" y="15242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50292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678424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6062472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6446520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960120" y="1965960"/>
            <a:ext cx="10241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AC 209b | Milestone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868680" y="2487168"/>
            <a:ext cx="1042416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Emotion-Informed MBTI Prediction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1463040" y="3310128"/>
            <a:ext cx="9326880" cy="30175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Project 66 | Harry Hu, Tom Shan, Wendy Wang, Kemeng Zhang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/>
          <p:nvPr/>
        </p:nvSpPr>
        <p:spPr>
          <a:xfrm>
            <a:off x="150" y="12"/>
            <a:ext cx="12191700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502920" y="256032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Can emotion-aware language signals predict MBTI?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4"/>
          <p:cNvSpPr txBox="1"/>
          <p:nvPr/>
        </p:nvSpPr>
        <p:spPr>
          <a:xfrm>
            <a:off x="50292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678424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4"/>
          <p:cNvSpPr txBox="1"/>
          <p:nvPr/>
        </p:nvSpPr>
        <p:spPr>
          <a:xfrm>
            <a:off x="6062472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6446520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685800" y="1417323"/>
            <a:ext cx="4343400" cy="2176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/>
          <p:nvPr/>
        </p:nvSpPr>
        <p:spPr>
          <a:xfrm>
            <a:off x="7178050" y="1417323"/>
            <a:ext cx="4343400" cy="2176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960120" y="1719072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B998B"/>
                </a:solidFill>
                <a:latin typeface="Arial"/>
                <a:ea typeface="Arial"/>
                <a:cs typeface="Arial"/>
                <a:sym typeface="Arial"/>
              </a:rPr>
              <a:t>Emotion source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7452360" y="1719072"/>
            <a:ext cx="3794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26D3D"/>
                </a:solidFill>
                <a:latin typeface="Arial"/>
                <a:ea typeface="Arial"/>
                <a:cs typeface="Arial"/>
                <a:sym typeface="Arial"/>
              </a:rPr>
              <a:t>Reddit MBTI target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1143000" y="2242820"/>
            <a:ext cx="3429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20k rows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6 balanced emotion classes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HuggingFace corpus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7580378" y="2238756"/>
            <a:ext cx="3429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~13M posts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16 self-reported types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Kaggle Reddit corpus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5440680" y="2834640"/>
            <a:ext cx="1325880" cy="5029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F80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5413248" y="2432304"/>
            <a:ext cx="1325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transfer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6550" y="3886596"/>
            <a:ext cx="4885950" cy="2020041"/>
          </a:xfrm>
          <a:prstGeom prst="rect">
            <a:avLst/>
          </a:prstGeom>
          <a:solidFill>
            <a:srgbClr val="F7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</p:pic>
      <p:pic>
        <p:nvPicPr>
          <p:cNvPr id="111" name="Google Shape;111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3300" y="3886224"/>
            <a:ext cx="4188411" cy="217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 txBox="1"/>
          <p:nvPr/>
        </p:nvSpPr>
        <p:spPr>
          <a:xfrm>
            <a:off x="502920" y="256032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Four MS2 Concerns -&gt; Four Design Decisions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50292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678424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6446520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/>
          <p:nvPr/>
        </p:nvSpPr>
        <p:spPr>
          <a:xfrm>
            <a:off x="713232" y="1325880"/>
            <a:ext cx="4663440" cy="1691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941832" y="1581912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2F80ED"/>
          </a:solidFill>
          <a:ln cap="flat" cmpd="sng" w="12700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1536192" y="1554480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16-type skew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1627632" y="2112264"/>
            <a:ext cx="685800" cy="21031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F80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2496312" y="2029967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4 binary dimensions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6327648" y="1325880"/>
            <a:ext cx="4663440" cy="1691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6556248" y="1581912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1B998B"/>
          </a:solidFill>
          <a:ln cap="flat" cmpd="sng" w="12700">
            <a:solidFill>
              <a:srgbClr val="1B99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7150608" y="1554480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Authors repeated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15"/>
          <p:cNvSpPr/>
          <p:nvPr/>
        </p:nvSpPr>
        <p:spPr>
          <a:xfrm>
            <a:off x="7242048" y="2112264"/>
            <a:ext cx="685800" cy="21031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B998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 txBox="1"/>
          <p:nvPr/>
        </p:nvSpPr>
        <p:spPr>
          <a:xfrm>
            <a:off x="8110727" y="2029967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B998B"/>
                </a:solidFill>
                <a:latin typeface="Arial"/>
                <a:ea typeface="Arial"/>
                <a:cs typeface="Arial"/>
                <a:sym typeface="Arial"/>
              </a:rPr>
              <a:t>author-level split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713232" y="3675887"/>
            <a:ext cx="4663440" cy="1691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/>
          <p:nvPr/>
        </p:nvSpPr>
        <p:spPr>
          <a:xfrm>
            <a:off x="941832" y="3931920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F26D3D"/>
          </a:solidFill>
          <a:ln cap="flat" cmpd="sng" w="12700">
            <a:solidFill>
              <a:srgbClr val="F26D3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1536192" y="3904487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Posts too short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1627632" y="4462272"/>
            <a:ext cx="685800" cy="21031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26D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2496312" y="4379975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26D3D"/>
                </a:solidFill>
                <a:latin typeface="Arial"/>
                <a:ea typeface="Arial"/>
                <a:cs typeface="Arial"/>
                <a:sym typeface="Arial"/>
              </a:rPr>
              <a:t>author aggregation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15"/>
          <p:cNvSpPr/>
          <p:nvPr/>
        </p:nvSpPr>
        <p:spPr>
          <a:xfrm>
            <a:off x="6327648" y="3675887"/>
            <a:ext cx="4663440" cy="16916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6556248" y="3931920"/>
            <a:ext cx="438912" cy="438912"/>
          </a:xfrm>
          <a:prstGeom prst="roundRect">
            <a:avLst>
              <a:gd fmla="val 16667" name="adj"/>
            </a:avLst>
          </a:prstGeom>
          <a:solidFill>
            <a:srgbClr val="C62828"/>
          </a:solidFill>
          <a:ln cap="flat" cmpd="sng" w="12700">
            <a:solidFill>
              <a:srgbClr val="C6282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7150608" y="3904487"/>
            <a:ext cx="3474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Does emotion help?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7242048" y="4462272"/>
            <a:ext cx="685800" cy="21031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6282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8110727" y="4379975"/>
            <a:ext cx="2514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matched B1 vs B2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 txBox="1"/>
          <p:nvPr/>
        </p:nvSpPr>
        <p:spPr>
          <a:xfrm>
            <a:off x="50292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062472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6446520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 txBox="1"/>
          <p:nvPr/>
        </p:nvSpPr>
        <p:spPr>
          <a:xfrm>
            <a:off x="640080" y="685800"/>
            <a:ext cx="10972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Refined Research Question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1005840" y="2148840"/>
            <a:ext cx="10241280" cy="98755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Do text + emotion features beat text-only baselines on author-level MBTI?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6"/>
          <p:cNvSpPr txBox="1"/>
          <p:nvPr/>
        </p:nvSpPr>
        <p:spPr>
          <a:xfrm>
            <a:off x="1874519" y="3337560"/>
            <a:ext cx="8458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On all four binary dimensions: E/I, N/S, F/T, J/P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502920" y="256032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Short-Post Tail Is Noise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50292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5294376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6062472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7"/>
          <p:cNvSpPr txBox="1"/>
          <p:nvPr/>
        </p:nvSpPr>
        <p:spPr>
          <a:xfrm>
            <a:off x="6446520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ost_length_cdf.png" id="162" name="Google Shape;16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4360" y="1582328"/>
            <a:ext cx="7360920" cy="383050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/>
          <p:nvPr/>
        </p:nvSpPr>
        <p:spPr>
          <a:xfrm>
            <a:off x="8275325" y="1417327"/>
            <a:ext cx="3063300" cy="3995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8549640" y="1719072"/>
            <a:ext cx="2514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Decision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8549640" y="2029968"/>
            <a:ext cx="251460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1" i="0" lang="en-US" sz="2300" u="none" cap="none" strike="noStrike">
                <a:solidFill>
                  <a:srgbClr val="F26D3D"/>
                </a:solidFill>
                <a:latin typeface="Arial"/>
                <a:ea typeface="Arial"/>
                <a:cs typeface="Arial"/>
                <a:sym typeface="Arial"/>
              </a:rPr>
              <a:t>Drop posts under 5 words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17"/>
          <p:cNvSpPr txBox="1"/>
          <p:nvPr/>
        </p:nvSpPr>
        <p:spPr>
          <a:xfrm>
            <a:off x="8549640" y="2907792"/>
            <a:ext cx="2514600" cy="13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1-4 words: 3.4% of sample</a:t>
            </a:r>
            <a:endParaRPr b="0" i="0" sz="1450" u="none" cap="none" strike="noStrike">
              <a:solidFill>
                <a:srgbClr val="1820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t/>
            </a:r>
            <a:endParaRPr b="0" i="0" sz="1450" u="none" cap="none" strike="noStrike">
              <a:solidFill>
                <a:srgbClr val="1820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Duplication: 1.1% -&gt; 0.2%</a:t>
            </a:r>
            <a:endParaRPr b="0" i="0" sz="1450" u="none" cap="none" strike="noStrike">
              <a:solidFill>
                <a:srgbClr val="1820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t/>
            </a:r>
            <a:endParaRPr b="0" i="0" sz="1450" u="none" cap="none" strike="noStrike">
              <a:solidFill>
                <a:srgbClr val="1820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Examples: lol, thanks, same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502920" y="256032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Author Feature Stability -&gt; 20-Post Floor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18"/>
          <p:cNvSpPr txBox="1"/>
          <p:nvPr/>
        </p:nvSpPr>
        <p:spPr>
          <a:xfrm>
            <a:off x="50292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5294376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8"/>
          <p:cNvSpPr txBox="1"/>
          <p:nvPr/>
        </p:nvSpPr>
        <p:spPr>
          <a:xfrm>
            <a:off x="6446520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uthor_feature_stability.png" id="176" name="Google Shape;17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152064"/>
            <a:ext cx="11155680" cy="3740054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/>
          <p:nvPr/>
        </p:nvSpPr>
        <p:spPr>
          <a:xfrm>
            <a:off x="914400" y="5166360"/>
            <a:ext cx="3063240" cy="7132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Bootstrap std tracks 1/sqrt(n)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18"/>
          <p:cNvSpPr/>
          <p:nvPr/>
        </p:nvSpPr>
        <p:spPr>
          <a:xfrm>
            <a:off x="4526280" y="5166360"/>
            <a:ext cx="3063240" cy="7132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998B"/>
                </a:solidFill>
                <a:latin typeface="Arial"/>
                <a:ea typeface="Arial"/>
                <a:cs typeface="Arial"/>
                <a:sym typeface="Arial"/>
              </a:rPr>
              <a:t>20 posts clears r &gt;= 0.25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18"/>
          <p:cNvSpPr/>
          <p:nvPr/>
        </p:nvSpPr>
        <p:spPr>
          <a:xfrm>
            <a:off x="8138160" y="5166360"/>
            <a:ext cx="3063240" cy="71323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26D3D"/>
                </a:solidFill>
                <a:latin typeface="Arial"/>
                <a:ea typeface="Arial"/>
                <a:cs typeface="Arial"/>
                <a:sym typeface="Arial"/>
              </a:rPr>
              <a:t>Only ~8% author loss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 txBox="1"/>
          <p:nvPr/>
        </p:nvSpPr>
        <p:spPr>
          <a:xfrm>
            <a:off x="502920" y="256032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Author Concentration -&gt; 200-Post Cap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9"/>
          <p:cNvSpPr txBox="1"/>
          <p:nvPr/>
        </p:nvSpPr>
        <p:spPr>
          <a:xfrm>
            <a:off x="50292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sp>
        <p:nvSpPr>
          <p:cNvPr id="187" name="Google Shape;187;p19"/>
          <p:cNvSpPr txBox="1"/>
          <p:nvPr/>
        </p:nvSpPr>
        <p:spPr>
          <a:xfrm>
            <a:off x="5294376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6062472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 txBox="1"/>
          <p:nvPr/>
        </p:nvSpPr>
        <p:spPr>
          <a:xfrm>
            <a:off x="6446520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uthor_concentration.png" id="190" name="Google Shape;19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070310"/>
            <a:ext cx="11109960" cy="388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9"/>
          <p:cNvSpPr/>
          <p:nvPr/>
        </p:nvSpPr>
        <p:spPr>
          <a:xfrm>
            <a:off x="822960" y="5230368"/>
            <a:ext cx="2468880" cy="5669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C62828"/>
                </a:solidFill>
                <a:latin typeface="Arial"/>
                <a:ea typeface="Arial"/>
                <a:cs typeface="Arial"/>
                <a:sym typeface="Arial"/>
              </a:rPr>
              <a:t>Uncapped Gini 0.75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3611880" y="5230368"/>
            <a:ext cx="2514600" cy="5669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26D3D"/>
                </a:solidFill>
                <a:latin typeface="Arial"/>
                <a:ea typeface="Arial"/>
                <a:cs typeface="Arial"/>
                <a:sym typeface="Arial"/>
              </a:rPr>
              <a:t>Top 1% = 18.9% posts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6446520" y="5230368"/>
            <a:ext cx="2423160" cy="5669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B998B"/>
                </a:solidFill>
                <a:latin typeface="Arial"/>
                <a:ea typeface="Arial"/>
                <a:cs typeface="Arial"/>
                <a:sym typeface="Arial"/>
              </a:rPr>
              <a:t>Cap 200: Gini 0.27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9144000" y="5230368"/>
            <a:ext cx="2057400" cy="56692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~1.7M posts retained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0"/>
          <p:cNvSpPr txBox="1"/>
          <p:nvPr/>
        </p:nvSpPr>
        <p:spPr>
          <a:xfrm>
            <a:off x="502920" y="256032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Source -&gt; Target Transfer Is Feasible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0"/>
          <p:cNvSpPr txBox="1"/>
          <p:nvPr/>
        </p:nvSpPr>
        <p:spPr>
          <a:xfrm>
            <a:off x="50292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5294376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 txBox="1"/>
          <p:nvPr/>
        </p:nvSpPr>
        <p:spPr>
          <a:xfrm>
            <a:off x="6062472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6446520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ource_target_transfer_and_length.png" id="205" name="Google Shape;20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2920" y="1147492"/>
            <a:ext cx="11155680" cy="3740054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/>
          <p:nvPr/>
        </p:nvSpPr>
        <p:spPr>
          <a:xfrm>
            <a:off x="960120" y="5230368"/>
            <a:ext cx="301752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B998B"/>
                </a:solidFill>
                <a:latin typeface="Arial"/>
                <a:ea typeface="Arial"/>
                <a:cs typeface="Arial"/>
                <a:sym typeface="Arial"/>
              </a:rPr>
              <a:t>Coverage rises: 59% -&gt; 92%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0"/>
          <p:cNvSpPr/>
          <p:nvPr/>
        </p:nvSpPr>
        <p:spPr>
          <a:xfrm>
            <a:off x="4572000" y="5230368"/>
            <a:ext cx="301752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F26D3D"/>
                </a:solidFill>
                <a:latin typeface="Arial"/>
                <a:ea typeface="Arial"/>
                <a:cs typeface="Arial"/>
                <a:sym typeface="Arial"/>
              </a:rPr>
              <a:t>Reddit 95th pct ~3x source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0"/>
          <p:cNvSpPr/>
          <p:nvPr/>
        </p:nvSpPr>
        <p:spPr>
          <a:xfrm>
            <a:off x="8183879" y="5230368"/>
            <a:ext cx="3017520" cy="65836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Use soft 6-d probabilities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502920" y="256032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EDA -&gt; Decisions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530352" y="658368"/>
            <a:ext cx="8961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Every threshold is EDA-derived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50292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5294376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6062472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6446520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1"/>
          <p:cNvSpPr txBox="1"/>
          <p:nvPr/>
        </p:nvSpPr>
        <p:spPr>
          <a:xfrm>
            <a:off x="777240" y="126187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Data choices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1"/>
          <p:cNvSpPr/>
          <p:nvPr/>
        </p:nvSpPr>
        <p:spPr>
          <a:xfrm>
            <a:off x="2240280" y="1078992"/>
            <a:ext cx="1627632" cy="8412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word floor</a:t>
            </a:r>
            <a:b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&gt;= 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21"/>
          <p:cNvSpPr/>
          <p:nvPr/>
        </p:nvSpPr>
        <p:spPr>
          <a:xfrm>
            <a:off x="4142232" y="1078992"/>
            <a:ext cx="1627632" cy="8412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author floor</a:t>
            </a:r>
            <a:b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&gt;= 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1"/>
          <p:cNvSpPr/>
          <p:nvPr/>
        </p:nvSpPr>
        <p:spPr>
          <a:xfrm>
            <a:off x="6044184" y="1078992"/>
            <a:ext cx="1627632" cy="8412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author cap</a:t>
            </a:r>
            <a:b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&lt;= 200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1"/>
          <p:cNvSpPr/>
          <p:nvPr/>
        </p:nvSpPr>
        <p:spPr>
          <a:xfrm>
            <a:off x="7946136" y="1078992"/>
            <a:ext cx="1627632" cy="841248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emotion</a:t>
            </a:r>
            <a:b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soft probs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21"/>
          <p:cNvSpPr txBox="1"/>
          <p:nvPr/>
        </p:nvSpPr>
        <p:spPr>
          <a:xfrm>
            <a:off x="777240" y="3913632"/>
            <a:ext cx="2011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Modeling choices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2743200" y="3703320"/>
            <a:ext cx="1920240" cy="868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sequence encoder</a:t>
            </a:r>
            <a:b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variable text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21"/>
          <p:cNvSpPr/>
          <p:nvPr/>
        </p:nvSpPr>
        <p:spPr>
          <a:xfrm>
            <a:off x="5166360" y="3703320"/>
            <a:ext cx="1920240" cy="868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author aggregation</a:t>
            </a:r>
            <a:b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post -&gt; author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21"/>
          <p:cNvSpPr/>
          <p:nvPr/>
        </p:nvSpPr>
        <p:spPr>
          <a:xfrm>
            <a:off x="7589520" y="3703320"/>
            <a:ext cx="1920240" cy="868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matched pair</a:t>
            </a:r>
            <a:b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B1 vs B2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2"/>
          <p:cNvSpPr/>
          <p:nvPr/>
        </p:nvSpPr>
        <p:spPr>
          <a:xfrm>
            <a:off x="0" y="-18602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502920" y="256032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Model Input, Output, and Architecture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50292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5294376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22"/>
          <p:cNvSpPr txBox="1"/>
          <p:nvPr/>
        </p:nvSpPr>
        <p:spPr>
          <a:xfrm>
            <a:off x="5678424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2"/>
          <p:cNvSpPr txBox="1"/>
          <p:nvPr/>
        </p:nvSpPr>
        <p:spPr>
          <a:xfrm>
            <a:off x="6446520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500000" y="900000"/>
            <a:ext cx="2200000" cy="700000"/>
          </a:xfrm>
          <a:prstGeom prst="roundRect">
            <a:avLst>
              <a:gd fmla="val 16667" name="adj"/>
            </a:avLst>
          </a:prstGeom>
          <a:solidFill>
            <a:srgbClr val="E3D7F6"/>
          </a:solidFill>
          <a:ln cap="flat" cmpd="sng" w="1587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0" lIns="30000" spcFirstLastPara="1" rIns="30000" wrap="square" tIns="1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22"/>
          <p:cNvSpPr txBox="1"/>
          <p:nvPr/>
        </p:nvSpPr>
        <p:spPr>
          <a:xfrm>
            <a:off x="620000" y="1000000"/>
            <a:ext cx="196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Stage 1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620000" y="1280000"/>
            <a:ext cx="196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C4660"/>
                </a:solidFill>
                <a:latin typeface="Arial"/>
                <a:ea typeface="Arial"/>
                <a:cs typeface="Arial"/>
                <a:sym typeface="Arial"/>
              </a:rPr>
              <a:t>Emotion classifier</a:t>
            </a:r>
            <a:br>
              <a:rPr b="0" i="0" lang="en-US" sz="1000" u="none" cap="none" strike="noStrike">
                <a:solidFill>
                  <a:srgbClr val="3C466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000" u="none" cap="none" strike="noStrike">
                <a:solidFill>
                  <a:srgbClr val="3C4660"/>
                </a:solidFill>
                <a:latin typeface="Arial"/>
                <a:ea typeface="Arial"/>
                <a:cs typeface="Arial"/>
                <a:sym typeface="Arial"/>
              </a:rPr>
              <a:t>(pretrained, frozen in B2)</a:t>
            </a:r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3000000" y="900000"/>
            <a:ext cx="1400000" cy="700000"/>
          </a:xfrm>
          <a:prstGeom prst="roundRect">
            <a:avLst>
              <a:gd fmla="val 16667" name="adj"/>
            </a:avLst>
          </a:prstGeom>
          <a:solidFill>
            <a:srgbClr val="F1ECFB"/>
          </a:solidFill>
          <a:ln cap="flat" cmpd="sng" w="1587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0" lIns="30000" spcFirstLastPara="1" rIns="30000" wrap="square" tIns="1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short text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HF emotion 20k</a:t>
            </a:r>
            <a:endParaRPr/>
          </a:p>
        </p:txBody>
      </p:sp>
      <p:cxnSp>
        <p:nvCxnSpPr>
          <p:cNvPr id="243" name="Google Shape;243;p22"/>
          <p:cNvCxnSpPr/>
          <p:nvPr/>
        </p:nvCxnSpPr>
        <p:spPr>
          <a:xfrm>
            <a:off x="4400000" y="1250000"/>
            <a:ext cx="210000" cy="0"/>
          </a:xfrm>
          <a:prstGeom prst="straightConnector1">
            <a:avLst/>
          </a:prstGeom>
          <a:noFill/>
          <a:ln cap="flat" cmpd="sng" w="22225">
            <a:solidFill>
              <a:srgbClr val="8E7CC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4" name="Google Shape;244;p22"/>
          <p:cNvSpPr/>
          <p:nvPr/>
        </p:nvSpPr>
        <p:spPr>
          <a:xfrm>
            <a:off x="4610000" y="900000"/>
            <a:ext cx="1400000" cy="700000"/>
          </a:xfrm>
          <a:prstGeom prst="roundRect">
            <a:avLst>
              <a:gd fmla="val 16667" name="adj"/>
            </a:avLst>
          </a:prstGeom>
          <a:solidFill>
            <a:srgbClr val="F1ECFB"/>
          </a:solidFill>
          <a:ln cap="flat" cmpd="sng" w="1587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0" lIns="30000" spcFirstLastPara="1" rIns="30000" wrap="square" tIns="1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WordPiece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vocab 30k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max_len 64</a:t>
            </a:r>
            <a:endParaRPr/>
          </a:p>
        </p:txBody>
      </p:sp>
      <p:cxnSp>
        <p:nvCxnSpPr>
          <p:cNvPr id="245" name="Google Shape;245;p22"/>
          <p:cNvCxnSpPr/>
          <p:nvPr/>
        </p:nvCxnSpPr>
        <p:spPr>
          <a:xfrm>
            <a:off x="6010000" y="1250000"/>
            <a:ext cx="210000" cy="0"/>
          </a:xfrm>
          <a:prstGeom prst="straightConnector1">
            <a:avLst/>
          </a:prstGeom>
          <a:noFill/>
          <a:ln cap="flat" cmpd="sng" w="22225">
            <a:solidFill>
              <a:srgbClr val="8E7CC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6" name="Google Shape;246;p22"/>
          <p:cNvSpPr/>
          <p:nvPr/>
        </p:nvSpPr>
        <p:spPr>
          <a:xfrm>
            <a:off x="6220000" y="900000"/>
            <a:ext cx="1400000" cy="700000"/>
          </a:xfrm>
          <a:prstGeom prst="roundRect">
            <a:avLst>
              <a:gd fmla="val 16667" name="adj"/>
            </a:avLst>
          </a:prstGeom>
          <a:solidFill>
            <a:srgbClr val="F1ECFB"/>
          </a:solidFill>
          <a:ln cap="flat" cmpd="sng" w="1587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0" lIns="30000" spcFirstLastPara="1" rIns="30000" wrap="square" tIns="1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Embedding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30k -&gt; 128-d</a:t>
            </a:r>
            <a:endParaRPr/>
          </a:p>
        </p:txBody>
      </p:sp>
      <p:cxnSp>
        <p:nvCxnSpPr>
          <p:cNvPr id="247" name="Google Shape;247;p22"/>
          <p:cNvCxnSpPr/>
          <p:nvPr/>
        </p:nvCxnSpPr>
        <p:spPr>
          <a:xfrm>
            <a:off x="7620000" y="1250000"/>
            <a:ext cx="210000" cy="0"/>
          </a:xfrm>
          <a:prstGeom prst="straightConnector1">
            <a:avLst/>
          </a:prstGeom>
          <a:noFill/>
          <a:ln cap="flat" cmpd="sng" w="22225">
            <a:solidFill>
              <a:srgbClr val="8E7CC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48" name="Google Shape;248;p22"/>
          <p:cNvSpPr/>
          <p:nvPr/>
        </p:nvSpPr>
        <p:spPr>
          <a:xfrm>
            <a:off x="7830000" y="900000"/>
            <a:ext cx="1400000" cy="700000"/>
          </a:xfrm>
          <a:prstGeom prst="roundRect">
            <a:avLst>
              <a:gd fmla="val 16667" name="adj"/>
            </a:avLst>
          </a:prstGeom>
          <a:solidFill>
            <a:srgbClr val="F1ECFB"/>
          </a:solidFill>
          <a:ln cap="flat" cmpd="sng" w="1587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0" lIns="30000" spcFirstLastPara="1" rIns="30000" wrap="square" tIns="1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GRU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hidden = 128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1 layer</a:t>
            </a:r>
            <a:endParaRPr/>
          </a:p>
        </p:txBody>
      </p:sp>
      <p:cxnSp>
        <p:nvCxnSpPr>
          <p:cNvPr id="249" name="Google Shape;249;p22"/>
          <p:cNvCxnSpPr/>
          <p:nvPr/>
        </p:nvCxnSpPr>
        <p:spPr>
          <a:xfrm>
            <a:off x="9230000" y="1250000"/>
            <a:ext cx="210000" cy="0"/>
          </a:xfrm>
          <a:prstGeom prst="straightConnector1">
            <a:avLst/>
          </a:prstGeom>
          <a:noFill/>
          <a:ln cap="flat" cmpd="sng" w="22225">
            <a:solidFill>
              <a:srgbClr val="8E7CC3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0" name="Google Shape;250;p22"/>
          <p:cNvSpPr/>
          <p:nvPr/>
        </p:nvSpPr>
        <p:spPr>
          <a:xfrm>
            <a:off x="9440000" y="900000"/>
            <a:ext cx="1400000" cy="700000"/>
          </a:xfrm>
          <a:prstGeom prst="roundRect">
            <a:avLst>
              <a:gd fmla="val 16667" name="adj"/>
            </a:avLst>
          </a:prstGeom>
          <a:solidFill>
            <a:srgbClr val="E3D7F6"/>
          </a:solidFill>
          <a:ln cap="flat" cmpd="sng" w="15875">
            <a:solidFill>
              <a:srgbClr val="8E7CC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0" lIns="30000" spcFirstLastPara="1" rIns="30000" wrap="square" tIns="1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Dense -&gt; Softmax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128 -&gt; 64 -&gt; 6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6 emotion classes</a:t>
            </a:r>
            <a:endParaRPr/>
          </a:p>
        </p:txBody>
      </p:sp>
      <p:sp>
        <p:nvSpPr>
          <p:cNvPr id="251" name="Google Shape;251;p22"/>
          <p:cNvSpPr/>
          <p:nvPr/>
        </p:nvSpPr>
        <p:spPr>
          <a:xfrm>
            <a:off x="500000" y="2600000"/>
            <a:ext cx="2200000" cy="700000"/>
          </a:xfrm>
          <a:prstGeom prst="roundRect">
            <a:avLst>
              <a:gd fmla="val 16667" name="adj"/>
            </a:avLst>
          </a:prstGeom>
          <a:solidFill>
            <a:srgbClr val="CFE0F4"/>
          </a:solidFill>
          <a:ln cap="flat" cmpd="sng" w="15875">
            <a:solidFill>
              <a:srgbClr val="4A7E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0" lIns="30000" spcFirstLastPara="1" rIns="30000" wrap="square" tIns="1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2"/>
          <p:cNvSpPr txBox="1"/>
          <p:nvPr/>
        </p:nvSpPr>
        <p:spPr>
          <a:xfrm>
            <a:off x="620000" y="2700000"/>
            <a:ext cx="196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Baseline 1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620000" y="2980000"/>
            <a:ext cx="196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C4660"/>
                </a:solidFill>
                <a:latin typeface="Arial"/>
                <a:ea typeface="Arial"/>
                <a:cs typeface="Arial"/>
                <a:sym typeface="Arial"/>
              </a:rPr>
              <a:t>Text only</a:t>
            </a:r>
            <a:endParaRPr/>
          </a:p>
        </p:txBody>
      </p:sp>
      <p:sp>
        <p:nvSpPr>
          <p:cNvPr id="254" name="Google Shape;254;p22"/>
          <p:cNvSpPr/>
          <p:nvPr/>
        </p:nvSpPr>
        <p:spPr>
          <a:xfrm>
            <a:off x="3000000" y="2600000"/>
            <a:ext cx="1400000" cy="700000"/>
          </a:xfrm>
          <a:prstGeom prst="roundRect">
            <a:avLst>
              <a:gd fmla="val 16667" name="adj"/>
            </a:avLst>
          </a:prstGeom>
          <a:solidFill>
            <a:srgbClr val="E8F1FB"/>
          </a:solidFill>
          <a:ln cap="flat" cmpd="sng" w="15875">
            <a:solidFill>
              <a:srgbClr val="4A7E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0" lIns="30000" spcFirstLastPara="1" rIns="30000" wrap="square" tIns="1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Reddit text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post, 5 - 200 words</a:t>
            </a:r>
            <a:endParaRPr/>
          </a:p>
        </p:txBody>
      </p:sp>
      <p:cxnSp>
        <p:nvCxnSpPr>
          <p:cNvPr id="255" name="Google Shape;255;p22"/>
          <p:cNvCxnSpPr/>
          <p:nvPr/>
        </p:nvCxnSpPr>
        <p:spPr>
          <a:xfrm>
            <a:off x="4400000" y="2950000"/>
            <a:ext cx="210000" cy="0"/>
          </a:xfrm>
          <a:prstGeom prst="straightConnector1">
            <a:avLst/>
          </a:prstGeom>
          <a:noFill/>
          <a:ln cap="flat" cmpd="sng" w="22225">
            <a:solidFill>
              <a:srgbClr val="4A7EB8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6" name="Google Shape;256;p22"/>
          <p:cNvSpPr/>
          <p:nvPr/>
        </p:nvSpPr>
        <p:spPr>
          <a:xfrm>
            <a:off x="4610000" y="2600000"/>
            <a:ext cx="1400000" cy="700000"/>
          </a:xfrm>
          <a:prstGeom prst="roundRect">
            <a:avLst>
              <a:gd fmla="val 16667" name="adj"/>
            </a:avLst>
          </a:prstGeom>
          <a:solidFill>
            <a:srgbClr val="E8F1FB"/>
          </a:solidFill>
          <a:ln cap="flat" cmpd="sng" w="15875">
            <a:solidFill>
              <a:srgbClr val="4A7E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0" lIns="30000" spcFirstLastPara="1" rIns="30000" wrap="square" tIns="1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WordPiece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vocab 30k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max_len 128</a:t>
            </a:r>
            <a:endParaRPr/>
          </a:p>
        </p:txBody>
      </p:sp>
      <p:cxnSp>
        <p:nvCxnSpPr>
          <p:cNvPr id="257" name="Google Shape;257;p22"/>
          <p:cNvCxnSpPr/>
          <p:nvPr/>
        </p:nvCxnSpPr>
        <p:spPr>
          <a:xfrm>
            <a:off x="6010000" y="2950000"/>
            <a:ext cx="210000" cy="0"/>
          </a:xfrm>
          <a:prstGeom prst="straightConnector1">
            <a:avLst/>
          </a:prstGeom>
          <a:noFill/>
          <a:ln cap="flat" cmpd="sng" w="22225">
            <a:solidFill>
              <a:srgbClr val="4A7EB8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58" name="Google Shape;258;p22"/>
          <p:cNvSpPr/>
          <p:nvPr/>
        </p:nvSpPr>
        <p:spPr>
          <a:xfrm>
            <a:off x="6220000" y="2600000"/>
            <a:ext cx="1400000" cy="700000"/>
          </a:xfrm>
          <a:prstGeom prst="roundRect">
            <a:avLst>
              <a:gd fmla="val 16667" name="adj"/>
            </a:avLst>
          </a:prstGeom>
          <a:solidFill>
            <a:srgbClr val="E8F1FB"/>
          </a:solidFill>
          <a:ln cap="flat" cmpd="sng" w="15875">
            <a:solidFill>
              <a:srgbClr val="4A7E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0" lIns="30000" spcFirstLastPara="1" rIns="30000" wrap="square" tIns="1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Embedding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30k -&gt; 128-d</a:t>
            </a:r>
            <a:endParaRPr/>
          </a:p>
        </p:txBody>
      </p:sp>
      <p:cxnSp>
        <p:nvCxnSpPr>
          <p:cNvPr id="259" name="Google Shape;259;p22"/>
          <p:cNvCxnSpPr/>
          <p:nvPr/>
        </p:nvCxnSpPr>
        <p:spPr>
          <a:xfrm>
            <a:off x="7620000" y="2950000"/>
            <a:ext cx="210000" cy="0"/>
          </a:xfrm>
          <a:prstGeom prst="straightConnector1">
            <a:avLst/>
          </a:prstGeom>
          <a:noFill/>
          <a:ln cap="flat" cmpd="sng" w="22225">
            <a:solidFill>
              <a:srgbClr val="4A7EB8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0" name="Google Shape;260;p22"/>
          <p:cNvSpPr/>
          <p:nvPr/>
        </p:nvSpPr>
        <p:spPr>
          <a:xfrm>
            <a:off x="7830000" y="2600000"/>
            <a:ext cx="1400000" cy="700000"/>
          </a:xfrm>
          <a:prstGeom prst="roundRect">
            <a:avLst>
              <a:gd fmla="val 16667" name="adj"/>
            </a:avLst>
          </a:prstGeom>
          <a:solidFill>
            <a:srgbClr val="E8F1FB"/>
          </a:solidFill>
          <a:ln cap="flat" cmpd="sng" w="15875">
            <a:solidFill>
              <a:srgbClr val="4A7E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0" lIns="30000" spcFirstLastPara="1" rIns="30000" wrap="square" tIns="1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GRU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hidden = 128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1 layer</a:t>
            </a:r>
            <a:endParaRPr/>
          </a:p>
        </p:txBody>
      </p:sp>
      <p:cxnSp>
        <p:nvCxnSpPr>
          <p:cNvPr id="261" name="Google Shape;261;p22"/>
          <p:cNvCxnSpPr/>
          <p:nvPr/>
        </p:nvCxnSpPr>
        <p:spPr>
          <a:xfrm>
            <a:off x="9230000" y="2950000"/>
            <a:ext cx="210000" cy="0"/>
          </a:xfrm>
          <a:prstGeom prst="straightConnector1">
            <a:avLst/>
          </a:prstGeom>
          <a:noFill/>
          <a:ln cap="flat" cmpd="sng" w="22225">
            <a:solidFill>
              <a:srgbClr val="4A7EB8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2" name="Google Shape;262;p22"/>
          <p:cNvSpPr/>
          <p:nvPr/>
        </p:nvSpPr>
        <p:spPr>
          <a:xfrm>
            <a:off x="9440000" y="2600000"/>
            <a:ext cx="1400000" cy="700000"/>
          </a:xfrm>
          <a:prstGeom prst="roundRect">
            <a:avLst>
              <a:gd fmla="val 16667" name="adj"/>
            </a:avLst>
          </a:prstGeom>
          <a:solidFill>
            <a:srgbClr val="CFE0F4"/>
          </a:solidFill>
          <a:ln cap="flat" cmpd="sng" w="15875">
            <a:solidFill>
              <a:srgbClr val="4A7E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0" lIns="30000" spcFirstLastPara="1" rIns="30000" wrap="square" tIns="1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Dense head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128 -&gt; 64 -&gt; 4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4 MBTI logits</a:t>
            </a:r>
            <a:endParaRPr/>
          </a:p>
        </p:txBody>
      </p:sp>
      <p:sp>
        <p:nvSpPr>
          <p:cNvPr id="263" name="Google Shape;263;p22"/>
          <p:cNvSpPr/>
          <p:nvPr/>
        </p:nvSpPr>
        <p:spPr>
          <a:xfrm>
            <a:off x="500000" y="4300000"/>
            <a:ext cx="2200000" cy="700000"/>
          </a:xfrm>
          <a:prstGeom prst="roundRect">
            <a:avLst>
              <a:gd fmla="val 16667" name="adj"/>
            </a:avLst>
          </a:prstGeom>
          <a:solidFill>
            <a:srgbClr val="CFE5BE"/>
          </a:solidFill>
          <a:ln cap="flat" cmpd="sng" w="158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0" lIns="30000" spcFirstLastPara="1" rIns="30000" wrap="square" tIns="1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2"/>
          <p:cNvSpPr txBox="1"/>
          <p:nvPr/>
        </p:nvSpPr>
        <p:spPr>
          <a:xfrm>
            <a:off x="620000" y="4400000"/>
            <a:ext cx="196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Baseline 2</a:t>
            </a:r>
            <a:endParaRPr/>
          </a:p>
        </p:txBody>
      </p:sp>
      <p:sp>
        <p:nvSpPr>
          <p:cNvPr id="265" name="Google Shape;265;p22"/>
          <p:cNvSpPr txBox="1"/>
          <p:nvPr/>
        </p:nvSpPr>
        <p:spPr>
          <a:xfrm>
            <a:off x="620000" y="4680000"/>
            <a:ext cx="1960000" cy="3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3C4660"/>
                </a:solidFill>
                <a:latin typeface="Arial"/>
                <a:ea typeface="Arial"/>
                <a:cs typeface="Arial"/>
                <a:sym typeface="Arial"/>
              </a:rPr>
              <a:t>Text + emotion</a:t>
            </a:r>
            <a:endParaRPr/>
          </a:p>
        </p:txBody>
      </p:sp>
      <p:sp>
        <p:nvSpPr>
          <p:cNvPr id="266" name="Google Shape;266;p22"/>
          <p:cNvSpPr/>
          <p:nvPr/>
        </p:nvSpPr>
        <p:spPr>
          <a:xfrm>
            <a:off x="3000000" y="4300000"/>
            <a:ext cx="1400000" cy="700000"/>
          </a:xfrm>
          <a:prstGeom prst="roundRect">
            <a:avLst>
              <a:gd fmla="val 16667" name="adj"/>
            </a:avLst>
          </a:prstGeom>
          <a:solidFill>
            <a:srgbClr val="E6F2DF"/>
          </a:solidFill>
          <a:ln cap="flat" cmpd="sng" w="158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0" lIns="30000" spcFirstLastPara="1" rIns="30000" wrap="square" tIns="1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Reddit text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post, 5 - 200 words</a:t>
            </a:r>
            <a:endParaRPr/>
          </a:p>
        </p:txBody>
      </p:sp>
      <p:cxnSp>
        <p:nvCxnSpPr>
          <p:cNvPr id="267" name="Google Shape;267;p22"/>
          <p:cNvCxnSpPr/>
          <p:nvPr/>
        </p:nvCxnSpPr>
        <p:spPr>
          <a:xfrm>
            <a:off x="4400000" y="4650000"/>
            <a:ext cx="210000" cy="0"/>
          </a:xfrm>
          <a:prstGeom prst="straightConnector1">
            <a:avLst/>
          </a:prstGeom>
          <a:noFill/>
          <a:ln cap="flat" cmpd="sng" w="2222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68" name="Google Shape;268;p22"/>
          <p:cNvSpPr/>
          <p:nvPr/>
        </p:nvSpPr>
        <p:spPr>
          <a:xfrm>
            <a:off x="4610000" y="4300000"/>
            <a:ext cx="1400000" cy="700000"/>
          </a:xfrm>
          <a:prstGeom prst="roundRect">
            <a:avLst>
              <a:gd fmla="val 16667" name="adj"/>
            </a:avLst>
          </a:prstGeom>
          <a:solidFill>
            <a:srgbClr val="E6F2DF"/>
          </a:solidFill>
          <a:ln cap="flat" cmpd="sng" w="158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0" lIns="30000" spcFirstLastPara="1" rIns="30000" wrap="square" tIns="1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WordPiece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vocab 30k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max_len 128</a:t>
            </a:r>
            <a:endParaRPr/>
          </a:p>
        </p:txBody>
      </p:sp>
      <p:cxnSp>
        <p:nvCxnSpPr>
          <p:cNvPr id="269" name="Google Shape;269;p22"/>
          <p:cNvCxnSpPr/>
          <p:nvPr/>
        </p:nvCxnSpPr>
        <p:spPr>
          <a:xfrm>
            <a:off x="6010000" y="4650000"/>
            <a:ext cx="210000" cy="0"/>
          </a:xfrm>
          <a:prstGeom prst="straightConnector1">
            <a:avLst/>
          </a:prstGeom>
          <a:noFill/>
          <a:ln cap="flat" cmpd="sng" w="2222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0" name="Google Shape;270;p22"/>
          <p:cNvSpPr/>
          <p:nvPr/>
        </p:nvSpPr>
        <p:spPr>
          <a:xfrm>
            <a:off x="6220000" y="4300000"/>
            <a:ext cx="1400000" cy="700000"/>
          </a:xfrm>
          <a:prstGeom prst="roundRect">
            <a:avLst>
              <a:gd fmla="val 16667" name="adj"/>
            </a:avLst>
          </a:prstGeom>
          <a:solidFill>
            <a:srgbClr val="E6F2DF"/>
          </a:solidFill>
          <a:ln cap="flat" cmpd="sng" w="158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0" lIns="30000" spcFirstLastPara="1" rIns="30000" wrap="square" tIns="1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Embedding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30k -&gt; 128-d</a:t>
            </a:r>
            <a:endParaRPr/>
          </a:p>
        </p:txBody>
      </p:sp>
      <p:cxnSp>
        <p:nvCxnSpPr>
          <p:cNvPr id="271" name="Google Shape;271;p22"/>
          <p:cNvCxnSpPr/>
          <p:nvPr/>
        </p:nvCxnSpPr>
        <p:spPr>
          <a:xfrm>
            <a:off x="7620000" y="4650000"/>
            <a:ext cx="210000" cy="0"/>
          </a:xfrm>
          <a:prstGeom prst="straightConnector1">
            <a:avLst/>
          </a:prstGeom>
          <a:noFill/>
          <a:ln cap="flat" cmpd="sng" w="2222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2" name="Google Shape;272;p22"/>
          <p:cNvSpPr/>
          <p:nvPr/>
        </p:nvSpPr>
        <p:spPr>
          <a:xfrm>
            <a:off x="7830000" y="4300000"/>
            <a:ext cx="1400000" cy="700000"/>
          </a:xfrm>
          <a:prstGeom prst="roundRect">
            <a:avLst>
              <a:gd fmla="val 16667" name="adj"/>
            </a:avLst>
          </a:prstGeom>
          <a:solidFill>
            <a:srgbClr val="E6F2DF"/>
          </a:solidFill>
          <a:ln cap="flat" cmpd="sng" w="158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0" lIns="30000" spcFirstLastPara="1" rIns="30000" wrap="square" tIns="1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GRU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hidden = 128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1 layer</a:t>
            </a:r>
            <a:endParaRPr/>
          </a:p>
        </p:txBody>
      </p:sp>
      <p:cxnSp>
        <p:nvCxnSpPr>
          <p:cNvPr id="273" name="Google Shape;273;p22"/>
          <p:cNvCxnSpPr/>
          <p:nvPr/>
        </p:nvCxnSpPr>
        <p:spPr>
          <a:xfrm>
            <a:off x="9230000" y="4650000"/>
            <a:ext cx="210000" cy="0"/>
          </a:xfrm>
          <a:prstGeom prst="straightConnector1">
            <a:avLst/>
          </a:prstGeom>
          <a:noFill/>
          <a:ln cap="flat" cmpd="sng" w="22225">
            <a:solidFill>
              <a:srgbClr val="6AA84F"/>
            </a:solidFill>
            <a:prstDash val="solid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4" name="Google Shape;274;p22"/>
          <p:cNvSpPr/>
          <p:nvPr/>
        </p:nvSpPr>
        <p:spPr>
          <a:xfrm>
            <a:off x="9440000" y="4300000"/>
            <a:ext cx="1400000" cy="700000"/>
          </a:xfrm>
          <a:prstGeom prst="roundRect">
            <a:avLst>
              <a:gd fmla="val 16667" name="adj"/>
            </a:avLst>
          </a:prstGeom>
          <a:solidFill>
            <a:srgbClr val="CFE5BE"/>
          </a:solidFill>
          <a:ln cap="flat" cmpd="sng" w="15875">
            <a:solidFill>
              <a:srgbClr val="6AA8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5000" lIns="30000" spcFirstLastPara="1" rIns="30000" wrap="square" tIns="15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Dense head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concat 128 + 6 -&gt; 134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134 -&gt; 64 -&gt; 4 logits</a:t>
            </a:r>
            <a:endParaRPr/>
          </a:p>
        </p:txBody>
      </p:sp>
      <p:cxnSp>
        <p:nvCxnSpPr>
          <p:cNvPr id="275" name="Google Shape;275;p22"/>
          <p:cNvCxnSpPr/>
          <p:nvPr/>
        </p:nvCxnSpPr>
        <p:spPr>
          <a:xfrm rot="10800000">
            <a:off x="2850000" y="4650000"/>
            <a:ext cx="150000" cy="0"/>
          </a:xfrm>
          <a:prstGeom prst="straightConnector1">
            <a:avLst/>
          </a:prstGeom>
          <a:noFill/>
          <a:ln cap="flat" cmpd="sng" w="22850">
            <a:solidFill>
              <a:srgbClr val="E69138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76" name="Google Shape;276;p22"/>
          <p:cNvCxnSpPr/>
          <p:nvPr/>
        </p:nvCxnSpPr>
        <p:spPr>
          <a:xfrm rot="10800000">
            <a:off x="2850000" y="1250000"/>
            <a:ext cx="0" cy="3400000"/>
          </a:xfrm>
          <a:prstGeom prst="straightConnector1">
            <a:avLst/>
          </a:prstGeom>
          <a:noFill/>
          <a:ln cap="flat" cmpd="sng" w="22850">
            <a:solidFill>
              <a:srgbClr val="E69138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77" name="Google Shape;277;p22"/>
          <p:cNvCxnSpPr/>
          <p:nvPr/>
        </p:nvCxnSpPr>
        <p:spPr>
          <a:xfrm>
            <a:off x="2850000" y="1250000"/>
            <a:ext cx="150000" cy="0"/>
          </a:xfrm>
          <a:prstGeom prst="straightConnector1">
            <a:avLst/>
          </a:prstGeom>
          <a:noFill/>
          <a:ln cap="flat" cmpd="sng" w="22850">
            <a:solidFill>
              <a:srgbClr val="E69138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78" name="Google Shape;278;p22"/>
          <p:cNvSpPr txBox="1"/>
          <p:nvPr/>
        </p:nvSpPr>
        <p:spPr>
          <a:xfrm>
            <a:off x="2910000" y="1820000"/>
            <a:ext cx="180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69138"/>
                </a:solidFill>
                <a:latin typeface="Arial"/>
                <a:ea typeface="Arial"/>
                <a:cs typeface="Arial"/>
                <a:sym typeface="Arial"/>
              </a:rPr>
              <a:t>same text -&gt; Stage 1</a:t>
            </a:r>
            <a:endParaRPr/>
          </a:p>
        </p:txBody>
      </p:sp>
      <p:cxnSp>
        <p:nvCxnSpPr>
          <p:cNvPr id="279" name="Google Shape;279;p22"/>
          <p:cNvCxnSpPr/>
          <p:nvPr/>
        </p:nvCxnSpPr>
        <p:spPr>
          <a:xfrm>
            <a:off x="10840000" y="1250000"/>
            <a:ext cx="360000" cy="0"/>
          </a:xfrm>
          <a:prstGeom prst="straightConnector1">
            <a:avLst/>
          </a:prstGeom>
          <a:noFill/>
          <a:ln cap="flat" cmpd="sng" w="22850">
            <a:solidFill>
              <a:srgbClr val="E69138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80" name="Google Shape;280;p22"/>
          <p:cNvCxnSpPr/>
          <p:nvPr/>
        </p:nvCxnSpPr>
        <p:spPr>
          <a:xfrm>
            <a:off x="11200000" y="1250000"/>
            <a:ext cx="0" cy="2900000"/>
          </a:xfrm>
          <a:prstGeom prst="straightConnector1">
            <a:avLst/>
          </a:prstGeom>
          <a:noFill/>
          <a:ln cap="flat" cmpd="sng" w="22850">
            <a:solidFill>
              <a:srgbClr val="E69138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81" name="Google Shape;281;p22"/>
          <p:cNvCxnSpPr/>
          <p:nvPr/>
        </p:nvCxnSpPr>
        <p:spPr>
          <a:xfrm rot="10800000">
            <a:off x="10140000" y="4150000"/>
            <a:ext cx="1060000" cy="0"/>
          </a:xfrm>
          <a:prstGeom prst="straightConnector1">
            <a:avLst/>
          </a:prstGeom>
          <a:noFill/>
          <a:ln cap="flat" cmpd="sng" w="22850">
            <a:solidFill>
              <a:srgbClr val="E69138"/>
            </a:solidFill>
            <a:prstDash val="dash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cxnSp>
        <p:nvCxnSpPr>
          <p:cNvPr id="282" name="Google Shape;282;p22"/>
          <p:cNvCxnSpPr/>
          <p:nvPr/>
        </p:nvCxnSpPr>
        <p:spPr>
          <a:xfrm>
            <a:off x="10140000" y="4150000"/>
            <a:ext cx="0" cy="150000"/>
          </a:xfrm>
          <a:prstGeom prst="straightConnector1">
            <a:avLst/>
          </a:prstGeom>
          <a:noFill/>
          <a:ln cap="flat" cmpd="sng" w="22850">
            <a:solidFill>
              <a:srgbClr val="E69138"/>
            </a:solidFill>
            <a:prstDash val="dash"/>
            <a:round/>
            <a:headEnd len="sm" w="sm" type="none"/>
            <a:tailEnd len="med" w="med" type="triangle"/>
          </a:ln>
          <a:effectLst>
            <a:outerShdw blurRad="40000" rotWithShape="0" dir="5400000" dist="20000">
              <a:srgbClr val="000000">
                <a:alpha val="38039"/>
              </a:srgbClr>
            </a:outerShdw>
          </a:effectLst>
        </p:spPr>
      </p:cxnSp>
      <p:sp>
        <p:nvSpPr>
          <p:cNvPr id="283" name="Google Shape;283;p22"/>
          <p:cNvSpPr txBox="1"/>
          <p:nvPr/>
        </p:nvSpPr>
        <p:spPr>
          <a:xfrm>
            <a:off x="9500000" y="3520000"/>
            <a:ext cx="1650000" cy="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69138"/>
                </a:solidFill>
                <a:latin typeface="Arial"/>
                <a:ea typeface="Arial"/>
                <a:cs typeface="Arial"/>
                <a:sym typeface="Arial"/>
              </a:rPr>
              <a:t>6-d emotion probs -&gt; B2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3"/>
          <p:cNvSpPr txBox="1"/>
          <p:nvPr/>
        </p:nvSpPr>
        <p:spPr>
          <a:xfrm>
            <a:off x="502920" y="256032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Training Curves + Stage-1 Emotion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0" name="Google Shape;290;p23"/>
          <p:cNvSpPr txBox="1"/>
          <p:nvPr/>
        </p:nvSpPr>
        <p:spPr>
          <a:xfrm>
            <a:off x="50292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sp>
        <p:nvSpPr>
          <p:cNvPr id="291" name="Google Shape;291;p23"/>
          <p:cNvSpPr txBox="1"/>
          <p:nvPr/>
        </p:nvSpPr>
        <p:spPr>
          <a:xfrm>
            <a:off x="5294376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3"/>
          <p:cNvSpPr txBox="1"/>
          <p:nvPr/>
        </p:nvSpPr>
        <p:spPr>
          <a:xfrm>
            <a:off x="5678424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3"/>
          <p:cNvSpPr txBox="1"/>
          <p:nvPr/>
        </p:nvSpPr>
        <p:spPr>
          <a:xfrm>
            <a:off x="6446520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1_training_curve.png" id="294" name="Google Shape;29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1248375"/>
            <a:ext cx="3703320" cy="18009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2_training_curve.png" id="295" name="Google Shape;295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3506943"/>
            <a:ext cx="3703320" cy="18009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motion_stage1_curves.png" id="296" name="Google Shape;29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00600" y="1525236"/>
            <a:ext cx="6629400" cy="1933007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3"/>
          <p:cNvSpPr/>
          <p:nvPr/>
        </p:nvSpPr>
        <p:spPr>
          <a:xfrm>
            <a:off x="5212080" y="3950208"/>
            <a:ext cx="219456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B99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B998B"/>
                </a:solidFill>
                <a:latin typeface="Arial"/>
                <a:ea typeface="Arial"/>
                <a:cs typeface="Arial"/>
                <a:sym typeface="Arial"/>
              </a:rPr>
              <a:t>val_acc = 0.897</a:t>
            </a:r>
            <a:br>
              <a:rPr b="1" i="0" lang="en-US" sz="1700" u="none" cap="none" strike="noStrike">
                <a:solidFill>
                  <a:srgbClr val="1B998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700" u="none" cap="none" strike="noStrike">
                <a:solidFill>
                  <a:srgbClr val="1B998B"/>
                </a:solidFill>
                <a:latin typeface="Arial"/>
                <a:ea typeface="Arial"/>
                <a:cs typeface="Arial"/>
                <a:sym typeface="Arial"/>
              </a:rPr>
              <a:t>test = 0.908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23"/>
          <p:cNvSpPr/>
          <p:nvPr/>
        </p:nvSpPr>
        <p:spPr>
          <a:xfrm>
            <a:off x="7818120" y="3950208"/>
            <a:ext cx="2606040" cy="685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B1/B2 plateau:</a:t>
            </a:r>
            <a:br>
              <a:rPr b="1" i="0" lang="en-US" sz="17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7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val BCE ~0.520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3"/>
          <p:cNvSpPr txBox="1"/>
          <p:nvPr/>
        </p:nvSpPr>
        <p:spPr>
          <a:xfrm>
            <a:off x="4892040" y="5074920"/>
            <a:ext cx="63550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50"/>
              <a:buFont typeface="Arial"/>
              <a:buNone/>
            </a:pPr>
            <a:r>
              <a:rPr b="0" i="0" lang="en-US" sz="145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Stage 1 is not the bottleneck; the MBTI baselines converge to the same loss floor.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4"/>
          <p:cNvSpPr txBox="1"/>
          <p:nvPr/>
        </p:nvSpPr>
        <p:spPr>
          <a:xfrm>
            <a:off x="502920" y="256032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Author-Level Results: Majority-Class Collapse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24"/>
          <p:cNvSpPr txBox="1"/>
          <p:nvPr/>
        </p:nvSpPr>
        <p:spPr>
          <a:xfrm>
            <a:off x="50292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sp>
        <p:nvSpPr>
          <p:cNvPr id="307" name="Google Shape;307;p24"/>
          <p:cNvSpPr txBox="1"/>
          <p:nvPr/>
        </p:nvSpPr>
        <p:spPr>
          <a:xfrm>
            <a:off x="5294376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24"/>
          <p:cNvSpPr txBox="1"/>
          <p:nvPr/>
        </p:nvSpPr>
        <p:spPr>
          <a:xfrm>
            <a:off x="5678424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4"/>
          <p:cNvSpPr txBox="1"/>
          <p:nvPr/>
        </p:nvSpPr>
        <p:spPr>
          <a:xfrm>
            <a:off x="6446520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24"/>
          <p:cNvSpPr/>
          <p:nvPr/>
        </p:nvSpPr>
        <p:spPr>
          <a:xfrm>
            <a:off x="502920" y="1078992"/>
            <a:ext cx="11292840" cy="4526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24"/>
          <p:cNvSpPr txBox="1"/>
          <p:nvPr/>
        </p:nvSpPr>
        <p:spPr>
          <a:xfrm>
            <a:off x="1017035" y="1243583"/>
            <a:ext cx="7909506" cy="229267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Balanced accuracy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alanced_accuracy_bar.png" id="312" name="Google Shape;31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4116" y="1632857"/>
            <a:ext cx="8102425" cy="3771247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4"/>
          <p:cNvSpPr txBox="1"/>
          <p:nvPr/>
        </p:nvSpPr>
        <p:spPr>
          <a:xfrm>
            <a:off x="9076210" y="2312620"/>
            <a:ext cx="2291674" cy="2059023"/>
          </a:xfrm>
          <a:prstGeom prst="rect">
            <a:avLst/>
          </a:prstGeom>
          <a:noFill/>
          <a:ln>
            <a:noFill/>
          </a:ln>
        </p:spPr>
        <p:txBody>
          <a:bodyPr anchorCtr="0" anchor="t" bIns="36575" lIns="73150" spcFirstLastPara="1" rIns="73150" wrap="square" tIns="36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E/I, N/S, J/P collapse to prior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t/>
            </a:r>
            <a:endParaRPr b="0" i="0" sz="1350" u="none" cap="none" strike="noStrike">
              <a:solidFill>
                <a:srgbClr val="1820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B2 - B1 gap ~0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F/T precision 86-88%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b="0" i="0" lang="en-US" sz="135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Recall only 2-4%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25"/>
          <p:cNvSpPr txBox="1"/>
          <p:nvPr/>
        </p:nvSpPr>
        <p:spPr>
          <a:xfrm>
            <a:off x="502920" y="256032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Interpretation: Where the Signal Dies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25"/>
          <p:cNvSpPr txBox="1"/>
          <p:nvPr/>
        </p:nvSpPr>
        <p:spPr>
          <a:xfrm>
            <a:off x="50292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sp>
        <p:nvSpPr>
          <p:cNvPr id="321" name="Google Shape;321;p25"/>
          <p:cNvSpPr txBox="1"/>
          <p:nvPr/>
        </p:nvSpPr>
        <p:spPr>
          <a:xfrm>
            <a:off x="5294376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5"/>
          <p:cNvSpPr txBox="1"/>
          <p:nvPr/>
        </p:nvSpPr>
        <p:spPr>
          <a:xfrm>
            <a:off x="5678424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5"/>
          <p:cNvSpPr txBox="1"/>
          <p:nvPr/>
        </p:nvSpPr>
        <p:spPr>
          <a:xfrm>
            <a:off x="6446520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5"/>
          <p:cNvSpPr/>
          <p:nvPr/>
        </p:nvSpPr>
        <p:spPr>
          <a:xfrm>
            <a:off x="777240" y="2011680"/>
            <a:ext cx="242316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per-post</a:t>
            </a:r>
            <a:br>
              <a:rPr b="1" i="0" lang="en-US" sz="20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0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probabilities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25"/>
          <p:cNvSpPr/>
          <p:nvPr/>
        </p:nvSpPr>
        <p:spPr>
          <a:xfrm>
            <a:off x="3520440" y="2514600"/>
            <a:ext cx="1005840" cy="34747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D66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5"/>
          <p:cNvSpPr/>
          <p:nvPr/>
        </p:nvSpPr>
        <p:spPr>
          <a:xfrm>
            <a:off x="4800600" y="1874519"/>
            <a:ext cx="2606040" cy="160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F26D3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26D3D"/>
                </a:solidFill>
                <a:latin typeface="Arial"/>
                <a:ea typeface="Arial"/>
                <a:cs typeface="Arial"/>
                <a:sym typeface="Arial"/>
              </a:rPr>
              <a:t>hard 50%</a:t>
            </a:r>
            <a:br>
              <a:rPr b="1" i="0" lang="en-US" sz="2100" u="none" cap="none" strike="noStrike">
                <a:solidFill>
                  <a:srgbClr val="F26D3D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100" u="none" cap="none" strike="noStrike">
                <a:solidFill>
                  <a:srgbClr val="F26D3D"/>
                </a:solidFill>
                <a:latin typeface="Arial"/>
                <a:ea typeface="Arial"/>
                <a:cs typeface="Arial"/>
                <a:sym typeface="Arial"/>
              </a:rPr>
              <a:t>majority vote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25"/>
          <p:cNvSpPr/>
          <p:nvPr/>
        </p:nvSpPr>
        <p:spPr>
          <a:xfrm>
            <a:off x="7726679" y="2514600"/>
            <a:ext cx="1005840" cy="34747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5D66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5"/>
          <p:cNvSpPr/>
          <p:nvPr/>
        </p:nvSpPr>
        <p:spPr>
          <a:xfrm>
            <a:off x="9006840" y="2011680"/>
            <a:ext cx="242316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1B99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1B998B"/>
                </a:solidFill>
                <a:latin typeface="Arial"/>
                <a:ea typeface="Arial"/>
                <a:cs typeface="Arial"/>
                <a:sym typeface="Arial"/>
              </a:rPr>
              <a:t>author-level</a:t>
            </a:r>
            <a:br>
              <a:rPr b="1" i="0" lang="en-US" sz="2000" u="none" cap="none" strike="noStrike">
                <a:solidFill>
                  <a:srgbClr val="1B998B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2000" u="none" cap="none" strike="noStrike">
                <a:solidFill>
                  <a:srgbClr val="1B998B"/>
                </a:solidFill>
                <a:latin typeface="Arial"/>
                <a:ea typeface="Arial"/>
                <a:cs typeface="Arial"/>
                <a:sym typeface="Arial"/>
              </a:rPr>
              <a:t>label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25"/>
          <p:cNvSpPr/>
          <p:nvPr/>
        </p:nvSpPr>
        <p:spPr>
          <a:xfrm>
            <a:off x="960120" y="4434840"/>
            <a:ext cx="3794760" cy="749808"/>
          </a:xfrm>
          <a:prstGeom prst="roundRect">
            <a:avLst>
              <a:gd fmla="val 16667" name="adj"/>
            </a:avLst>
          </a:prstGeom>
          <a:solidFill>
            <a:srgbClr val="EEF3F8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Vanilla BCE -&gt; class-prior solution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25"/>
          <p:cNvSpPr/>
          <p:nvPr/>
        </p:nvSpPr>
        <p:spPr>
          <a:xfrm>
            <a:off x="5532120" y="4434840"/>
            <a:ext cx="5257800" cy="749808"/>
          </a:xfrm>
          <a:prstGeom prst="roundRect">
            <a:avLst>
              <a:gd fmla="val 16667" name="adj"/>
            </a:avLst>
          </a:prstGeom>
          <a:solidFill>
            <a:srgbClr val="EEF3F8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Arial"/>
              <a:buNone/>
            </a:pPr>
            <a:r>
              <a:rPr b="1" i="0" lang="en-US" sz="17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Hard vote discards high-precision minority signal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6"/>
          <p:cNvSpPr txBox="1"/>
          <p:nvPr/>
        </p:nvSpPr>
        <p:spPr>
          <a:xfrm>
            <a:off x="502920" y="256032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Final Pipeline: 4 Targeted Upgrades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26"/>
          <p:cNvSpPr txBox="1"/>
          <p:nvPr/>
        </p:nvSpPr>
        <p:spPr>
          <a:xfrm>
            <a:off x="50292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sp>
        <p:nvSpPr>
          <p:cNvPr id="338" name="Google Shape;338;p26"/>
          <p:cNvSpPr/>
          <p:nvPr/>
        </p:nvSpPr>
        <p:spPr>
          <a:xfrm>
            <a:off x="200000" y="2653331"/>
            <a:ext cx="2782923" cy="1477229"/>
          </a:xfrm>
          <a:prstGeom prst="roundRect">
            <a:avLst>
              <a:gd fmla="val 16667" name="adj"/>
            </a:avLst>
          </a:prstGeom>
          <a:solidFill>
            <a:srgbClr val="2F80ED"/>
          </a:solidFill>
          <a:ln cap="flat" cmpd="sng" w="12700">
            <a:solidFill>
              <a:srgbClr val="2F80E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(1) class-weighted BCE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26"/>
          <p:cNvSpPr/>
          <p:nvPr/>
        </p:nvSpPr>
        <p:spPr>
          <a:xfrm>
            <a:off x="3202923" y="2653331"/>
            <a:ext cx="2782923" cy="1477229"/>
          </a:xfrm>
          <a:prstGeom prst="roundRect">
            <a:avLst>
              <a:gd fmla="val 16667" name="adj"/>
            </a:avLst>
          </a:prstGeom>
          <a:solidFill>
            <a:srgbClr val="1B998B"/>
          </a:solidFill>
          <a:ln cap="flat" cmpd="sng" w="12700">
            <a:solidFill>
              <a:srgbClr val="1B99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(2) soft author aggregation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26"/>
          <p:cNvSpPr/>
          <p:nvPr/>
        </p:nvSpPr>
        <p:spPr>
          <a:xfrm>
            <a:off x="6205846" y="2653331"/>
            <a:ext cx="2782923" cy="1477229"/>
          </a:xfrm>
          <a:prstGeom prst="roundRect">
            <a:avLst>
              <a:gd fmla="val 16667" name="adj"/>
            </a:avLst>
          </a:prstGeom>
          <a:solidFill>
            <a:srgbClr val="F26D3D"/>
          </a:solidFill>
          <a:ln cap="flat" cmpd="sng" w="12700">
            <a:solidFill>
              <a:srgbClr val="F26D3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(3) DistilBERT emotion encoder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6"/>
          <p:cNvSpPr/>
          <p:nvPr/>
        </p:nvSpPr>
        <p:spPr>
          <a:xfrm>
            <a:off x="9208769" y="2653331"/>
            <a:ext cx="2782923" cy="1477229"/>
          </a:xfrm>
          <a:prstGeom prst="roundRect">
            <a:avLst>
              <a:gd fmla="val 16667" name="adj"/>
            </a:avLst>
          </a:prstGeom>
          <a:solidFill>
            <a:srgbClr val="9B51E0"/>
          </a:solidFill>
          <a:ln cap="flat" cmpd="sng" w="12700">
            <a:solidFill>
              <a:srgbClr val="9B51E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6575" lIns="73150" spcFirstLastPara="1" rIns="73150" wrap="square" tIns="36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(4) DistilBERT text encoder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7"/>
          <p:cNvSpPr/>
          <p:nvPr/>
        </p:nvSpPr>
        <p:spPr>
          <a:xfrm>
            <a:off x="0" y="14295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7"/>
          <p:cNvSpPr txBox="1"/>
          <p:nvPr/>
        </p:nvSpPr>
        <p:spPr>
          <a:xfrm>
            <a:off x="502920" y="256032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Potential Challenges &amp; Open Questions for TF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27"/>
          <p:cNvSpPr txBox="1"/>
          <p:nvPr/>
        </p:nvSpPr>
        <p:spPr>
          <a:xfrm>
            <a:off x="50292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/>
          </a:p>
        </p:txBody>
      </p:sp>
      <p:sp>
        <p:nvSpPr>
          <p:cNvPr id="349" name="Google Shape;349;p27"/>
          <p:cNvSpPr txBox="1"/>
          <p:nvPr/>
        </p:nvSpPr>
        <p:spPr>
          <a:xfrm>
            <a:off x="5294376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7"/>
          <p:cNvSpPr txBox="1"/>
          <p:nvPr/>
        </p:nvSpPr>
        <p:spPr>
          <a:xfrm>
            <a:off x="5678424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7"/>
          <p:cNvSpPr txBox="1"/>
          <p:nvPr/>
        </p:nvSpPr>
        <p:spPr>
          <a:xfrm>
            <a:off x="6062472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7"/>
          <p:cNvSpPr/>
          <p:nvPr/>
        </p:nvSpPr>
        <p:spPr>
          <a:xfrm>
            <a:off x="685800" y="1234440"/>
            <a:ext cx="5272887" cy="4500000"/>
          </a:xfrm>
          <a:prstGeom prst="roundRect">
            <a:avLst>
              <a:gd fmla="val 16667" name="adj"/>
            </a:avLst>
          </a:prstGeom>
          <a:solidFill>
            <a:srgbClr val="F7F8FA"/>
          </a:solidFill>
          <a:ln cap="flat" cmpd="sng" w="9525">
            <a:solidFill>
              <a:srgbClr val="E1E5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27"/>
          <p:cNvSpPr txBox="1"/>
          <p:nvPr/>
        </p:nvSpPr>
        <p:spPr>
          <a:xfrm>
            <a:off x="965800" y="1474440"/>
            <a:ext cx="4712887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26D3D"/>
                </a:solidFill>
                <a:latin typeface="Arial"/>
                <a:ea typeface="Arial"/>
                <a:cs typeface="Arial"/>
                <a:sym typeface="Arial"/>
              </a:rPr>
              <a:t>Potential challenges &amp; concerns</a:t>
            </a:r>
            <a:endParaRPr/>
          </a:p>
        </p:txBody>
      </p:sp>
      <p:sp>
        <p:nvSpPr>
          <p:cNvPr id="354" name="Google Shape;354;p27"/>
          <p:cNvSpPr txBox="1"/>
          <p:nvPr/>
        </p:nvSpPr>
        <p:spPr>
          <a:xfrm>
            <a:off x="1005800" y="1954440"/>
            <a:ext cx="46329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26D3D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Compute budget</a:t>
            </a:r>
            <a:endParaRPr b="0" i="0" sz="1400" u="none" cap="none" strike="noStrike">
              <a:solidFill>
                <a:srgbClr val="1820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820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26D3D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Domain shift</a:t>
            </a:r>
            <a:endParaRPr b="0" i="0" sz="1400" u="none" cap="none" strike="noStrike">
              <a:solidFill>
                <a:srgbClr val="1820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820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26D3D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Label noise</a:t>
            </a:r>
            <a:endParaRPr/>
          </a:p>
        </p:txBody>
      </p:sp>
      <p:sp>
        <p:nvSpPr>
          <p:cNvPr id="355" name="Google Shape;355;p27"/>
          <p:cNvSpPr/>
          <p:nvPr/>
        </p:nvSpPr>
        <p:spPr>
          <a:xfrm>
            <a:off x="6233007" y="1234440"/>
            <a:ext cx="5272887" cy="4500000"/>
          </a:xfrm>
          <a:prstGeom prst="roundRect">
            <a:avLst>
              <a:gd fmla="val 16667" name="adj"/>
            </a:avLst>
          </a:prstGeom>
          <a:solidFill>
            <a:srgbClr val="F7F8FA"/>
          </a:solidFill>
          <a:ln cap="flat" cmpd="sng" w="9525">
            <a:solidFill>
              <a:srgbClr val="E1E5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27"/>
          <p:cNvSpPr txBox="1"/>
          <p:nvPr/>
        </p:nvSpPr>
        <p:spPr>
          <a:xfrm>
            <a:off x="6513007" y="1474440"/>
            <a:ext cx="4712887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Open questions for TF</a:t>
            </a:r>
            <a:endParaRPr/>
          </a:p>
        </p:txBody>
      </p:sp>
      <p:sp>
        <p:nvSpPr>
          <p:cNvPr id="357" name="Google Shape;357;p27"/>
          <p:cNvSpPr txBox="1"/>
          <p:nvPr/>
        </p:nvSpPr>
        <p:spPr>
          <a:xfrm>
            <a:off x="6553007" y="1954440"/>
            <a:ext cx="4632900" cy="158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For the heavily skewed N/S dimension (~93/7), what’s your recommendation?</a:t>
            </a:r>
            <a:endParaRPr b="0" i="0" sz="1400" u="none" cap="none" strike="noStrike">
              <a:solidFill>
                <a:srgbClr val="1820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82033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2F80ED"/>
                </a:solidFill>
                <a:latin typeface="Arial"/>
                <a:ea typeface="Arial"/>
                <a:cs typeface="Arial"/>
                <a:sym typeface="Arial"/>
              </a:rPr>
              <a:t>•  </a:t>
            </a:r>
            <a:r>
              <a:rPr b="0" i="0" lang="en-US" sz="1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Once soft aggregation produces continuous author-level scores, is AUC-ROC (per dimension, author-level) acceptable as the headline metric alongside balanced accuracy?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8"/>
          <p:cNvSpPr txBox="1"/>
          <p:nvPr/>
        </p:nvSpPr>
        <p:spPr>
          <a:xfrm>
            <a:off x="502920" y="256032"/>
            <a:ext cx="8961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Next Steps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28"/>
          <p:cNvSpPr txBox="1"/>
          <p:nvPr/>
        </p:nvSpPr>
        <p:spPr>
          <a:xfrm>
            <a:off x="502920" y="6473952"/>
            <a:ext cx="320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D6678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/>
          </a:p>
        </p:txBody>
      </p:sp>
      <p:sp>
        <p:nvSpPr>
          <p:cNvPr id="365" name="Google Shape;365;p28"/>
          <p:cNvSpPr txBox="1"/>
          <p:nvPr/>
        </p:nvSpPr>
        <p:spPr>
          <a:xfrm>
            <a:off x="5294376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8"/>
          <p:cNvSpPr txBox="1"/>
          <p:nvPr/>
        </p:nvSpPr>
        <p:spPr>
          <a:xfrm>
            <a:off x="5678424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8"/>
          <p:cNvSpPr txBox="1"/>
          <p:nvPr/>
        </p:nvSpPr>
        <p:spPr>
          <a:xfrm>
            <a:off x="6062472" y="6455664"/>
            <a:ext cx="438912" cy="164592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8"/>
          <p:cNvSpPr/>
          <p:nvPr/>
        </p:nvSpPr>
        <p:spPr>
          <a:xfrm>
            <a:off x="685800" y="2474659"/>
            <a:ext cx="2331720" cy="1874519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8"/>
          <p:cNvSpPr/>
          <p:nvPr/>
        </p:nvSpPr>
        <p:spPr>
          <a:xfrm>
            <a:off x="1444752" y="2794699"/>
            <a:ext cx="749808" cy="749808"/>
          </a:xfrm>
          <a:prstGeom prst="ellipse">
            <a:avLst/>
          </a:prstGeom>
          <a:solidFill>
            <a:srgbClr val="2F80E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28"/>
          <p:cNvSpPr txBox="1"/>
          <p:nvPr/>
        </p:nvSpPr>
        <p:spPr>
          <a:xfrm>
            <a:off x="1444752" y="2941003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28"/>
          <p:cNvSpPr txBox="1"/>
          <p:nvPr/>
        </p:nvSpPr>
        <p:spPr>
          <a:xfrm>
            <a:off x="914400" y="3709099"/>
            <a:ext cx="1874519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weighted BCE +</a:t>
            </a:r>
            <a:br>
              <a:rPr b="1" i="0" lang="en-US" sz="15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5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soft aggregation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28"/>
          <p:cNvSpPr/>
          <p:nvPr/>
        </p:nvSpPr>
        <p:spPr>
          <a:xfrm>
            <a:off x="3566160" y="2474659"/>
            <a:ext cx="2331720" cy="1874519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8"/>
          <p:cNvSpPr/>
          <p:nvPr/>
        </p:nvSpPr>
        <p:spPr>
          <a:xfrm>
            <a:off x="4325112" y="2794699"/>
            <a:ext cx="749808" cy="749808"/>
          </a:xfrm>
          <a:prstGeom prst="ellipse">
            <a:avLst/>
          </a:prstGeom>
          <a:solidFill>
            <a:srgbClr val="1B998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8"/>
          <p:cNvSpPr txBox="1"/>
          <p:nvPr/>
        </p:nvSpPr>
        <p:spPr>
          <a:xfrm>
            <a:off x="4325112" y="2941003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28"/>
          <p:cNvSpPr txBox="1"/>
          <p:nvPr/>
        </p:nvSpPr>
        <p:spPr>
          <a:xfrm>
            <a:off x="3794760" y="3709099"/>
            <a:ext cx="1874519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DistilBERT S1</a:t>
            </a:r>
            <a:br>
              <a:rPr b="1" i="0" lang="en-US" sz="15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5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+ prob cache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28"/>
          <p:cNvSpPr/>
          <p:nvPr/>
        </p:nvSpPr>
        <p:spPr>
          <a:xfrm>
            <a:off x="6446520" y="2474659"/>
            <a:ext cx="2331720" cy="1874519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8"/>
          <p:cNvSpPr/>
          <p:nvPr/>
        </p:nvSpPr>
        <p:spPr>
          <a:xfrm>
            <a:off x="7205472" y="2794699"/>
            <a:ext cx="749808" cy="749808"/>
          </a:xfrm>
          <a:prstGeom prst="ellipse">
            <a:avLst/>
          </a:prstGeom>
          <a:solidFill>
            <a:srgbClr val="F26D3D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8"/>
          <p:cNvSpPr txBox="1"/>
          <p:nvPr/>
        </p:nvSpPr>
        <p:spPr>
          <a:xfrm>
            <a:off x="7205472" y="2941003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28"/>
          <p:cNvSpPr txBox="1"/>
          <p:nvPr/>
        </p:nvSpPr>
        <p:spPr>
          <a:xfrm>
            <a:off x="6675120" y="3709099"/>
            <a:ext cx="1874519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DistilBERT S2</a:t>
            </a:r>
            <a:br>
              <a:rPr b="1" i="0" lang="en-US" sz="15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5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fine-tune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0" name="Google Shape;380;p28"/>
          <p:cNvSpPr/>
          <p:nvPr/>
        </p:nvSpPr>
        <p:spPr>
          <a:xfrm>
            <a:off x="9326880" y="2474659"/>
            <a:ext cx="2331720" cy="1874519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2700">
            <a:solidFill>
              <a:srgbClr val="D8DE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8"/>
          <p:cNvSpPr/>
          <p:nvPr/>
        </p:nvSpPr>
        <p:spPr>
          <a:xfrm>
            <a:off x="10085832" y="2794699"/>
            <a:ext cx="749808" cy="749808"/>
          </a:xfrm>
          <a:prstGeom prst="ellipse">
            <a:avLst/>
          </a:prstGeom>
          <a:solidFill>
            <a:srgbClr val="C6282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8"/>
          <p:cNvSpPr txBox="1"/>
          <p:nvPr/>
        </p:nvSpPr>
        <p:spPr>
          <a:xfrm>
            <a:off x="10085832" y="2941003"/>
            <a:ext cx="74980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KZ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28"/>
          <p:cNvSpPr txBox="1"/>
          <p:nvPr/>
        </p:nvSpPr>
        <p:spPr>
          <a:xfrm>
            <a:off x="9555480" y="3709099"/>
            <a:ext cx="1874519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18275" lIns="27425" spcFirstLastPara="1" rIns="27425" wrap="square" tIns="1827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evaluation +</a:t>
            </a:r>
            <a:br>
              <a:rPr b="1" i="0" lang="en-US" sz="15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1500" u="none" cap="none" strike="noStrike">
                <a:solidFill>
                  <a:srgbClr val="182033"/>
                </a:solidFill>
                <a:latin typeface="Arial"/>
                <a:ea typeface="Arial"/>
                <a:cs typeface="Arial"/>
                <a:sym typeface="Arial"/>
              </a:rPr>
              <a:t>ablations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